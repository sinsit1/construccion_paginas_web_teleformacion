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2" r:id="rId2"/>
    <p:sldId id="304" r:id="rId3"/>
    <p:sldId id="303" r:id="rId4"/>
    <p:sldId id="293" r:id="rId5"/>
    <p:sldId id="307" r:id="rId6"/>
    <p:sldId id="294" r:id="rId7"/>
    <p:sldId id="297" r:id="rId8"/>
    <p:sldId id="306" r:id="rId9"/>
    <p:sldId id="311" r:id="rId10"/>
    <p:sldId id="310" r:id="rId11"/>
    <p:sldId id="305" r:id="rId12"/>
    <p:sldId id="296" r:id="rId13"/>
    <p:sldId id="298" r:id="rId14"/>
    <p:sldId id="299" r:id="rId15"/>
    <p:sldId id="308" r:id="rId16"/>
    <p:sldId id="309" r:id="rId17"/>
    <p:sldId id="301" r:id="rId18"/>
    <p:sldId id="300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9F4B-B2B3-4157-8DBD-0AC4F36AE3B9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4F9D2-A342-48DC-860C-106F599D5D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805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4F9D2-A342-48DC-860C-106F599D5D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3868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8FF2-4DE1-C9DF-F98A-1ED4F68C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974E6A-0582-3A18-C455-0860A7E2A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87BFFD-CCE7-BF91-4278-96A0FF2DC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553343-A97D-9094-ECDB-44F32DFE2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4F9D2-A342-48DC-860C-106F599D5D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8913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17DF-1581-E6FB-633B-5E31E405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208BAB-264D-D650-C121-C3D209FD7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179A66-333B-85CD-45A1-A2E795315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B6C300-DED2-DCEC-9EBD-A65FE956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4F9D2-A342-48DC-860C-106F599D5D9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881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B4E71-E4AF-B16D-C98D-42F0FB516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21E2D2-A8BB-F624-7F7C-D4255F215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A2A3DE-5F3C-A79A-C494-670A5E26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19066F-55F4-0BF1-B354-BC805EE4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04B580-EE62-754C-69CC-7B21C67E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6194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0FB50-D586-AE47-9E15-D8176446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BB6546-D270-D5A5-8B65-75AB845F2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61AD4D-7C05-B37F-F25D-B3E3766A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211737-CD53-6040-3CED-0A93F2CA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D8945C-660A-3884-E570-FBA330B0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29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1C650-0DC8-D3BE-6A64-4846FFE2A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3D6FAA-9C04-ACA3-292B-D3DC7E082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32603D-B1BE-AD76-3C85-E81E6A50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550897-DE5E-4886-35DF-EDA23D87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697878-76DC-D87D-04BA-E426DBAE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6077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9CB5E-9ADD-CB9B-C2AF-916BFC11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E8CFB0-6346-2F90-88F2-3A9BA4A3C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D05683-0477-426E-0BD0-B05C05BAB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342692-79EF-DAFB-5492-9D39E851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DE0C8-99A9-A07B-2311-51D16FDB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C41B9F-B57F-2567-DC82-B4BE0459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103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18AE8-150D-1A1A-9C96-1C3D7A62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58C175-3E02-7A0D-1552-27D2C6686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C68008-D481-3B4B-1DCC-8992EEE35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EED152-D78E-0D48-7C6E-5096CE1E8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41078D-35BE-F05A-57E5-1EC7FD94E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540088-3A95-46F6-B453-94A6ADBE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BDFB0E-CAD1-7887-BACA-3838D5A5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69810-6176-7169-C1C9-DCB455BC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636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C2794-62F0-00AB-D09A-AC9706BF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C954A9-6A38-B750-0D42-77A791D5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FAA402-D576-BA54-B805-73C638C70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7C84B0-EACE-9871-3926-586AE29B3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579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FDAE0C-990B-6375-8B39-3079D30C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612C68-8DE7-AEAA-A1D5-5D701992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00911F-7E94-DE1D-62CC-452AD8C1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252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1242A-CD1C-E9D7-D5F8-C509E34E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42A4B8-4F1A-0BDF-7904-B27015B63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DBC07A-41A1-0BA4-DB9A-44E989E89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F021AF-AF04-FBEF-B764-A5332515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3E50A8-FAD5-6F02-F9E7-EC862D8A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0778FB-E4E7-DC31-B074-5296F074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8427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7DA88-B67A-A4BF-73AD-81B66B8E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F8FF833-5208-8E86-8016-E68D7C8A8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F37E10-91FB-575E-008B-2A8EF9E06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BDC811-A667-9B1D-502C-4BE2B710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A364AF-3AC6-9F79-BF1D-A8B1AC3B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63BDD5-BD6C-D306-C2EB-CC9BD73B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937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19A04-3C22-1569-1169-62A59637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DBA3A1-E8E0-8C1C-5031-EB6EE7CA2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BD61CF-BB05-9D0B-7FDC-A2A7C528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BA633B-1BF4-EB63-8E03-B677EFB9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371D61-AB10-DF9E-C51D-CB7E58B6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902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541907-7703-3938-36AC-E472C3299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0EAF44-64BE-E6A3-5D1F-071147DFB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7FF8B6-0880-DFFC-BDBA-06D495DD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25214C-1FE8-BF0E-389F-6EC41069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80BEC9-BA51-1BCF-3652-529E8FBA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77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75FCBB-44AC-75B1-5C59-1CF95D5E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B4C7D2-F7E6-A456-23C7-ED65627A8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F2D9DD-AA2C-2997-4161-B7E6B7C54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806AD-54AA-4817-A954-9B6BF528864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BF6EB1-3A0C-905F-A84B-08FB550F1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B0CF89-25DA-2E54-4865-E8735BA10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D3CC4-110A-41AD-A2FD-161A58F505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012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otopea.com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¿Qué es HTML?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05323" y="2403771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significa 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HyperText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Markup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Language</a:t>
            </a:r>
            <a:b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s-E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Lenguaje de Marcado de Hipertexto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pPr algn="l"/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 el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lenguaje básico para crear páginas web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Sirve para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estructurar el contenido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una web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 qué es un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título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un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párrafo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una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un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enlace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etc.</a:t>
            </a:r>
          </a:p>
          <a:p>
            <a:pPr algn="l"/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es un lenguaje de programación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es un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lenguaje de marcado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l"/>
            <a:endParaRPr lang="es-ES" sz="2000" dirty="0">
              <a:solidFill>
                <a:srgbClr val="555555"/>
              </a:solidFill>
            </a:endParaRP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AD501-F16D-A3AD-8C77-533DCC33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32A1-C47E-D9AB-A212-87CC9F8E45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D2B1A-6F8E-8AF7-90CD-F6FE310E8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5C3229-6163-2065-CF97-1D6DFEECF2C1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AEEB78-2CE8-0308-ABC8-87A7F00592FF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¿Qué es HTML?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03E3EF-3384-A8B8-93C6-CD80587179F4}"/>
              </a:ext>
            </a:extLst>
          </p:cNvPr>
          <p:cNvSpPr txBox="1">
            <a:spLocks/>
          </p:cNvSpPr>
          <p:nvPr/>
        </p:nvSpPr>
        <p:spPr>
          <a:xfrm>
            <a:off x="1103219" y="213993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 fontScale="8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 – Estructura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Define el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contenido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la página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Títulos, textos, imágenes, enlaces, formularios…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 el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esqueleto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la web</a:t>
            </a:r>
          </a:p>
          <a:p>
            <a:pPr algn="l"/>
            <a:b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– Diseño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estilo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la página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Colores, tamaños, tipografías, márgenes…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 la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apariencia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la web</a:t>
            </a:r>
          </a:p>
          <a:p>
            <a:pPr algn="l"/>
            <a:b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JavaScript – Comportamiento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Añade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interactividad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Botones, formularios, avisos, animaciones…</a:t>
            </a:r>
          </a:p>
          <a:p>
            <a:pPr algn="l"/>
            <a:endParaRPr lang="es-ES" sz="2000" dirty="0">
              <a:solidFill>
                <a:srgbClr val="555555"/>
              </a:solidFill>
            </a:endParaRP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151D1BBA-C571-849A-CE28-3F111AB6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838C9574-0754-CAB6-9284-B401FBC8B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52" y="1856799"/>
            <a:ext cx="3467584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5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27A4-8483-29B6-B6A3-90B23F13C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4ED4-0F05-61B7-DFF3-3D7E6A896E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696FD-3044-DC53-6ADB-7612E892CB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5A840C5-E21F-5567-914E-86699DDD580D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CC482E-454C-98A4-1968-5CBCAE29A3BB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>
                <a:solidFill>
                  <a:srgbClr val="1E4B5A"/>
                </a:solidFill>
              </a:rPr>
              <a:t>Elementos</a:t>
            </a:r>
            <a:r>
              <a:rPr b="1" dirty="0">
                <a:solidFill>
                  <a:srgbClr val="1E4B5A"/>
                </a:solidFill>
              </a:rPr>
              <a:t> </a:t>
            </a:r>
            <a:r>
              <a:rPr b="1" dirty="0" err="1">
                <a:solidFill>
                  <a:srgbClr val="1E4B5A"/>
                </a:solidFill>
              </a:rPr>
              <a:t>fundamentales</a:t>
            </a:r>
            <a:r>
              <a:rPr b="1" dirty="0">
                <a:solidFill>
                  <a:srgbClr val="1E4B5A"/>
                </a:solidFill>
              </a:rPr>
              <a:t> de </a:t>
            </a:r>
            <a:r>
              <a:rPr b="1" dirty="0" err="1">
                <a:solidFill>
                  <a:srgbClr val="1E4B5A"/>
                </a:solidFill>
              </a:rPr>
              <a:t>los</a:t>
            </a:r>
            <a:r>
              <a:rPr b="1" dirty="0">
                <a:solidFill>
                  <a:srgbClr val="1E4B5A"/>
                </a:solidFill>
              </a:rPr>
              <a:t> </a:t>
            </a:r>
            <a:r>
              <a:rPr b="1" dirty="0" err="1">
                <a:solidFill>
                  <a:srgbClr val="1E4B5A"/>
                </a:solidFill>
              </a:rPr>
              <a:t>lenguajes</a:t>
            </a:r>
            <a:r>
              <a:rPr b="1" dirty="0">
                <a:solidFill>
                  <a:srgbClr val="1E4B5A"/>
                </a:solidFill>
              </a:rPr>
              <a:t> de </a:t>
            </a:r>
            <a:r>
              <a:rPr b="1" dirty="0" err="1">
                <a:solidFill>
                  <a:srgbClr val="1E4B5A"/>
                </a:solidFill>
              </a:rPr>
              <a:t>marcas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C31C52-8ED5-9DEA-19C1-E53AEBA9B1E1}"/>
              </a:ext>
            </a:extLst>
          </p:cNvPr>
          <p:cNvSpPr txBox="1">
            <a:spLocks/>
          </p:cNvSpPr>
          <p:nvPr/>
        </p:nvSpPr>
        <p:spPr>
          <a:xfrm>
            <a:off x="1205323" y="2403771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dirty="0">
                <a:solidFill>
                  <a:srgbClr val="555555"/>
                </a:solidFill>
              </a:rPr>
              <a:t>Uso de </a:t>
            </a:r>
            <a:r>
              <a:rPr sz="2000" b="1" dirty="0" err="1">
                <a:solidFill>
                  <a:srgbClr val="555555"/>
                </a:solidFill>
              </a:rPr>
              <a:t>etiquetas</a:t>
            </a:r>
            <a:r>
              <a:rPr sz="2000" b="1" dirty="0">
                <a:solidFill>
                  <a:srgbClr val="555555"/>
                </a:solidFill>
              </a:rPr>
              <a:t> (tags):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Elemento</a:t>
            </a:r>
            <a:r>
              <a:rPr sz="2000" dirty="0">
                <a:solidFill>
                  <a:srgbClr val="555555"/>
                </a:solidFill>
              </a:rPr>
              <a:t>: define la </a:t>
            </a:r>
            <a:r>
              <a:rPr sz="2000" dirty="0" err="1">
                <a:solidFill>
                  <a:srgbClr val="555555"/>
                </a:solidFill>
              </a:rPr>
              <a:t>estructura</a:t>
            </a:r>
            <a:r>
              <a:rPr sz="2000" dirty="0">
                <a:solidFill>
                  <a:srgbClr val="555555"/>
                </a:solidFill>
              </a:rPr>
              <a:t> y </a:t>
            </a:r>
            <a:r>
              <a:rPr sz="2000" dirty="0" err="1">
                <a:solidFill>
                  <a:srgbClr val="555555"/>
                </a:solidFill>
              </a:rPr>
              <a:t>el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contenido</a:t>
            </a:r>
            <a:r>
              <a:rPr sz="2000" dirty="0">
                <a:solidFill>
                  <a:srgbClr val="555555"/>
                </a:solidFill>
              </a:rPr>
              <a:t> (&lt; &gt;).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Etiqueta</a:t>
            </a:r>
            <a:r>
              <a:rPr sz="2000" dirty="0">
                <a:solidFill>
                  <a:srgbClr val="555555"/>
                </a:solidFill>
              </a:rPr>
              <a:t> de apertura y </a:t>
            </a:r>
            <a:r>
              <a:rPr sz="2000" dirty="0" err="1">
                <a:solidFill>
                  <a:srgbClr val="555555"/>
                </a:solidFill>
              </a:rPr>
              <a:t>cierre</a:t>
            </a:r>
            <a:r>
              <a:rPr sz="2000" dirty="0">
                <a:solidFill>
                  <a:srgbClr val="555555"/>
                </a:solidFill>
              </a:rPr>
              <a:t>: </a:t>
            </a:r>
            <a:r>
              <a:rPr sz="2000" dirty="0" err="1">
                <a:solidFill>
                  <a:srgbClr val="555555"/>
                </a:solidFill>
              </a:rPr>
              <a:t>aparecen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en</a:t>
            </a:r>
            <a:r>
              <a:rPr sz="2000" dirty="0">
                <a:solidFill>
                  <a:srgbClr val="555555"/>
                </a:solidFill>
              </a:rPr>
              <a:t> pares (&lt;p&gt;...&lt;/p&gt;).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Etiquetas</a:t>
            </a:r>
            <a:r>
              <a:rPr sz="2000" dirty="0">
                <a:solidFill>
                  <a:srgbClr val="555555"/>
                </a:solidFill>
              </a:rPr>
              <a:t> sin </a:t>
            </a:r>
            <a:r>
              <a:rPr sz="2000" dirty="0" err="1">
                <a:solidFill>
                  <a:srgbClr val="555555"/>
                </a:solidFill>
              </a:rPr>
              <a:t>cierre</a:t>
            </a:r>
            <a:r>
              <a:rPr sz="2000" dirty="0">
                <a:solidFill>
                  <a:srgbClr val="555555"/>
                </a:solidFill>
              </a:rPr>
              <a:t>: no </a:t>
            </a:r>
            <a:r>
              <a:rPr sz="2000" dirty="0" err="1">
                <a:solidFill>
                  <a:srgbClr val="555555"/>
                </a:solidFill>
              </a:rPr>
              <a:t>necesitan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cierre</a:t>
            </a:r>
            <a:r>
              <a:rPr sz="2000" dirty="0">
                <a:solidFill>
                  <a:srgbClr val="555555"/>
                </a:solidFill>
              </a:rPr>
              <a:t> (</a:t>
            </a:r>
            <a:r>
              <a:rPr sz="2000" dirty="0" err="1">
                <a:solidFill>
                  <a:srgbClr val="555555"/>
                </a:solidFill>
              </a:rPr>
              <a:t>ej</a:t>
            </a:r>
            <a:r>
              <a:rPr sz="2000" dirty="0">
                <a:solidFill>
                  <a:srgbClr val="555555"/>
                </a:solidFill>
              </a:rPr>
              <a:t>. &lt;</a:t>
            </a:r>
            <a:r>
              <a:rPr sz="2000" dirty="0" err="1">
                <a:solidFill>
                  <a:srgbClr val="555555"/>
                </a:solidFill>
              </a:rPr>
              <a:t>br</a:t>
            </a:r>
            <a:r>
              <a:rPr sz="2000" dirty="0">
                <a:solidFill>
                  <a:srgbClr val="555555"/>
                </a:solidFill>
              </a:rPr>
              <a:t>/&gt;</a:t>
            </a:r>
            <a:r>
              <a:rPr lang="es-ES" sz="2000" dirty="0">
                <a:solidFill>
                  <a:srgbClr val="555555"/>
                </a:solidFill>
              </a:rPr>
              <a:t> &lt;</a:t>
            </a:r>
            <a:r>
              <a:rPr lang="es-ES" sz="2000" dirty="0" err="1">
                <a:solidFill>
                  <a:srgbClr val="555555"/>
                </a:solidFill>
              </a:rPr>
              <a:t>img</a:t>
            </a:r>
            <a:r>
              <a:rPr lang="es-ES" sz="2000" dirty="0">
                <a:solidFill>
                  <a:srgbClr val="555555"/>
                </a:solidFill>
              </a:rPr>
              <a:t>&gt;</a:t>
            </a:r>
            <a:r>
              <a:rPr sz="2000" dirty="0">
                <a:solidFill>
                  <a:srgbClr val="555555"/>
                </a:solidFill>
              </a:rPr>
              <a:t>).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Contenido</a:t>
            </a:r>
            <a:r>
              <a:rPr sz="2000" dirty="0">
                <a:solidFill>
                  <a:srgbClr val="555555"/>
                </a:solidFill>
              </a:rPr>
              <a:t>: </a:t>
            </a:r>
            <a:r>
              <a:rPr sz="2000" dirty="0" err="1">
                <a:solidFill>
                  <a:srgbClr val="555555"/>
                </a:solidFill>
              </a:rPr>
              <a:t>texto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situado</a:t>
            </a:r>
            <a:r>
              <a:rPr sz="2000" dirty="0">
                <a:solidFill>
                  <a:srgbClr val="555555"/>
                </a:solidFill>
              </a:rPr>
              <a:t> entre las </a:t>
            </a:r>
            <a:r>
              <a:rPr sz="2000" dirty="0" err="1">
                <a:solidFill>
                  <a:srgbClr val="555555"/>
                </a:solidFill>
              </a:rPr>
              <a:t>etiquetas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endParaRPr sz="2000" dirty="0">
              <a:solidFill>
                <a:srgbClr val="555555"/>
              </a:solidFill>
            </a:endParaRPr>
          </a:p>
          <a:p>
            <a:pPr algn="l"/>
            <a:r>
              <a:rPr sz="2000" b="1" dirty="0" err="1">
                <a:solidFill>
                  <a:srgbClr val="555555"/>
                </a:solidFill>
              </a:rPr>
              <a:t>Atributos</a:t>
            </a:r>
            <a:r>
              <a:rPr sz="2000" b="1"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Añaden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información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adicional</a:t>
            </a:r>
            <a:r>
              <a:rPr sz="2000" dirty="0">
                <a:solidFill>
                  <a:srgbClr val="555555"/>
                </a:solidFill>
              </a:rPr>
              <a:t> al </a:t>
            </a:r>
            <a:r>
              <a:rPr sz="2000" dirty="0" err="1">
                <a:solidFill>
                  <a:srgbClr val="555555"/>
                </a:solidFill>
              </a:rPr>
              <a:t>elemento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Se indican </a:t>
            </a:r>
            <a:r>
              <a:rPr sz="2000" dirty="0" err="1">
                <a:solidFill>
                  <a:srgbClr val="555555"/>
                </a:solidFill>
              </a:rPr>
              <a:t>en</a:t>
            </a:r>
            <a:r>
              <a:rPr sz="2000" dirty="0">
                <a:solidFill>
                  <a:srgbClr val="555555"/>
                </a:solidFill>
              </a:rPr>
              <a:t> la </a:t>
            </a:r>
            <a:r>
              <a:rPr sz="2000" dirty="0" err="1">
                <a:solidFill>
                  <a:srgbClr val="555555"/>
                </a:solidFill>
              </a:rPr>
              <a:t>etiqueta</a:t>
            </a:r>
            <a:r>
              <a:rPr sz="2000" dirty="0">
                <a:solidFill>
                  <a:srgbClr val="555555"/>
                </a:solidFill>
              </a:rPr>
              <a:t> de apertura.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Formados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por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nombre</a:t>
            </a:r>
            <a:r>
              <a:rPr sz="2000" dirty="0">
                <a:solidFill>
                  <a:srgbClr val="555555"/>
                </a:solidFill>
              </a:rPr>
              <a:t> y valor entre </a:t>
            </a:r>
            <a:r>
              <a:rPr sz="2000" dirty="0" err="1">
                <a:solidFill>
                  <a:srgbClr val="555555"/>
                </a:solidFill>
              </a:rPr>
              <a:t>comillas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dobles</a:t>
            </a:r>
            <a:r>
              <a:rPr sz="2000" dirty="0">
                <a:solidFill>
                  <a:srgbClr val="555555"/>
                </a:solidFill>
              </a:rPr>
              <a:t> (</a:t>
            </a:r>
            <a:r>
              <a:rPr sz="2000" dirty="0" err="1">
                <a:solidFill>
                  <a:srgbClr val="555555"/>
                </a:solidFill>
              </a:rPr>
              <a:t>ej</a:t>
            </a:r>
            <a:r>
              <a:rPr sz="2000" dirty="0">
                <a:solidFill>
                  <a:srgbClr val="555555"/>
                </a:solidFill>
              </a:rPr>
              <a:t>. &lt;a </a:t>
            </a:r>
            <a:r>
              <a:rPr sz="2000" dirty="0" err="1">
                <a:solidFill>
                  <a:srgbClr val="555555"/>
                </a:solidFill>
              </a:rPr>
              <a:t>href</a:t>
            </a:r>
            <a:r>
              <a:rPr sz="2000" dirty="0">
                <a:solidFill>
                  <a:srgbClr val="555555"/>
                </a:solidFill>
              </a:rPr>
              <a:t>="valor"&gt;).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2301757-49C6-C6C3-38A3-809B99A2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372016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>
                <a:solidFill>
                  <a:srgbClr val="1E4B5A"/>
                </a:solidFill>
              </a:rPr>
              <a:t>Estructura</a:t>
            </a:r>
            <a:r>
              <a:rPr b="1" dirty="0">
                <a:solidFill>
                  <a:srgbClr val="1E4B5A"/>
                </a:solidFill>
              </a:rPr>
              <a:t> de un </a:t>
            </a:r>
            <a:r>
              <a:rPr b="1" dirty="0" err="1">
                <a:solidFill>
                  <a:srgbClr val="1E4B5A"/>
                </a:solidFill>
              </a:rPr>
              <a:t>documento</a:t>
            </a:r>
            <a:r>
              <a:rPr b="1" dirty="0">
                <a:solidFill>
                  <a:srgbClr val="1E4B5A"/>
                </a:solidFill>
              </a:rPr>
              <a:t> HTML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dirty="0" err="1">
                <a:solidFill>
                  <a:srgbClr val="555555"/>
                </a:solidFill>
              </a:rPr>
              <a:t>Estructura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básica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requerida</a:t>
            </a:r>
            <a:r>
              <a:rPr sz="2000"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Declaración</a:t>
            </a:r>
            <a:r>
              <a:rPr sz="2000" dirty="0">
                <a:solidFill>
                  <a:srgbClr val="555555"/>
                </a:solidFill>
              </a:rPr>
              <a:t> del </a:t>
            </a:r>
            <a:r>
              <a:rPr sz="2000" dirty="0" err="1">
                <a:solidFill>
                  <a:srgbClr val="555555"/>
                </a:solidFill>
              </a:rPr>
              <a:t>tipo</a:t>
            </a:r>
            <a:r>
              <a:rPr sz="2000" dirty="0">
                <a:solidFill>
                  <a:srgbClr val="555555"/>
                </a:solidFill>
              </a:rPr>
              <a:t> de </a:t>
            </a:r>
            <a:r>
              <a:rPr sz="2000" dirty="0" err="1">
                <a:solidFill>
                  <a:srgbClr val="555555"/>
                </a:solidFill>
              </a:rPr>
              <a:t>documento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</a:t>
            </a:r>
            <a:r>
              <a:rPr sz="2000" dirty="0" err="1">
                <a:solidFill>
                  <a:srgbClr val="555555"/>
                </a:solidFill>
              </a:rPr>
              <a:t>Elemento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raíz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Cabecera y </a:t>
            </a:r>
            <a:r>
              <a:rPr sz="2000" dirty="0" err="1">
                <a:solidFill>
                  <a:srgbClr val="555555"/>
                </a:solidFill>
              </a:rPr>
              <a:t>cuerpo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endParaRPr sz="2000" dirty="0">
              <a:solidFill>
                <a:srgbClr val="555555"/>
              </a:solidFill>
            </a:endParaRPr>
          </a:p>
          <a:p>
            <a:pPr algn="l"/>
            <a:r>
              <a:rPr sz="2000" dirty="0">
                <a:solidFill>
                  <a:srgbClr val="555555"/>
                </a:solidFill>
              </a:rPr>
              <a:t>Partes clave: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&lt;!DOCTYPE html&gt;: </a:t>
            </a:r>
            <a:r>
              <a:rPr sz="2000" dirty="0" err="1">
                <a:solidFill>
                  <a:srgbClr val="555555"/>
                </a:solidFill>
              </a:rPr>
              <a:t>primera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instrucción</a:t>
            </a:r>
            <a:r>
              <a:rPr sz="2000" dirty="0">
                <a:solidFill>
                  <a:srgbClr val="555555"/>
                </a:solidFill>
              </a:rPr>
              <a:t> del </a:t>
            </a:r>
            <a:r>
              <a:rPr sz="2000" dirty="0" err="1">
                <a:solidFill>
                  <a:srgbClr val="555555"/>
                </a:solidFill>
              </a:rPr>
              <a:t>documento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&lt;html lang="..."&gt;: </a:t>
            </a:r>
            <a:r>
              <a:rPr sz="2000" dirty="0" err="1">
                <a:solidFill>
                  <a:srgbClr val="555555"/>
                </a:solidFill>
              </a:rPr>
              <a:t>elemento</a:t>
            </a:r>
            <a:r>
              <a:rPr sz="2000" dirty="0">
                <a:solidFill>
                  <a:srgbClr val="555555"/>
                </a:solidFill>
              </a:rPr>
              <a:t> </a:t>
            </a:r>
            <a:r>
              <a:rPr sz="2000" dirty="0" err="1">
                <a:solidFill>
                  <a:srgbClr val="555555"/>
                </a:solidFill>
              </a:rPr>
              <a:t>raíz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&lt;head&gt;: </a:t>
            </a:r>
            <a:r>
              <a:rPr sz="2000" dirty="0" err="1">
                <a:solidFill>
                  <a:srgbClr val="555555"/>
                </a:solidFill>
              </a:rPr>
              <a:t>metadatos</a:t>
            </a:r>
            <a:r>
              <a:rPr sz="2000" dirty="0">
                <a:solidFill>
                  <a:srgbClr val="555555"/>
                </a:solidFill>
              </a:rPr>
              <a:t> del </a:t>
            </a:r>
            <a:r>
              <a:rPr sz="2000" dirty="0" err="1">
                <a:solidFill>
                  <a:srgbClr val="555555"/>
                </a:solidFill>
              </a:rPr>
              <a:t>documento</a:t>
            </a:r>
            <a:r>
              <a:rPr sz="2000" dirty="0">
                <a:solidFill>
                  <a:srgbClr val="555555"/>
                </a:solidFill>
              </a:rPr>
              <a:t>, no </a:t>
            </a:r>
            <a:r>
              <a:rPr sz="2000" dirty="0" err="1">
                <a:solidFill>
                  <a:srgbClr val="555555"/>
                </a:solidFill>
              </a:rPr>
              <a:t>visibles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- &lt;body&gt;: </a:t>
            </a:r>
            <a:r>
              <a:rPr sz="2000" dirty="0" err="1">
                <a:solidFill>
                  <a:srgbClr val="555555"/>
                </a:solidFill>
              </a:rPr>
              <a:t>parte</a:t>
            </a:r>
            <a:r>
              <a:rPr sz="2000" dirty="0">
                <a:solidFill>
                  <a:srgbClr val="555555"/>
                </a:solidFill>
              </a:rPr>
              <a:t> visible con </a:t>
            </a:r>
            <a:r>
              <a:rPr sz="2000" dirty="0" err="1">
                <a:solidFill>
                  <a:srgbClr val="555555"/>
                </a:solidFill>
              </a:rPr>
              <a:t>textos</a:t>
            </a:r>
            <a:r>
              <a:rPr sz="2000" dirty="0">
                <a:solidFill>
                  <a:srgbClr val="555555"/>
                </a:solidFill>
              </a:rPr>
              <a:t>, </a:t>
            </a:r>
            <a:r>
              <a:rPr sz="2000" dirty="0" err="1">
                <a:solidFill>
                  <a:srgbClr val="555555"/>
                </a:solidFill>
              </a:rPr>
              <a:t>imágenes</a:t>
            </a:r>
            <a:r>
              <a:rPr sz="2000" dirty="0">
                <a:solidFill>
                  <a:srgbClr val="555555"/>
                </a:solidFill>
              </a:rPr>
              <a:t> y </a:t>
            </a:r>
            <a:r>
              <a:rPr sz="2000" dirty="0" err="1">
                <a:solidFill>
                  <a:srgbClr val="555555"/>
                </a:solidFill>
              </a:rPr>
              <a:t>formularios</a:t>
            </a:r>
            <a:r>
              <a:rPr sz="200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9ECC-3EFA-0A68-AB6A-7E152330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C84B-D94D-D467-9DBB-B31FD2EA3C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9DA5A-1A86-8CE1-62FC-C3302448C2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6C017F9-9E32-3EFC-BCDF-810369653803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22A252-E0A8-456B-43FA-FC9C23502E6D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>
                <a:solidFill>
                  <a:srgbClr val="1E4B5A"/>
                </a:solidFill>
              </a:rPr>
              <a:t>Estructura</a:t>
            </a:r>
            <a:r>
              <a:rPr b="1" dirty="0">
                <a:solidFill>
                  <a:srgbClr val="1E4B5A"/>
                </a:solidFill>
              </a:rPr>
              <a:t> de un </a:t>
            </a:r>
            <a:r>
              <a:rPr b="1" dirty="0" err="1">
                <a:solidFill>
                  <a:srgbClr val="1E4B5A"/>
                </a:solidFill>
              </a:rPr>
              <a:t>documento</a:t>
            </a:r>
            <a:r>
              <a:rPr b="1" dirty="0">
                <a:solidFill>
                  <a:srgbClr val="1E4B5A"/>
                </a:solidFill>
              </a:rPr>
              <a:t> HTML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CEEEDA-7801-3740-9939-82CE5994B45F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 fontScale="5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&lt;!DOCTYPE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html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&lt;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html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lang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="en"&gt;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&lt;head&gt;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      &lt;meta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charset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="UTF-8"&gt;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      &lt;meta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name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viewport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content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width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device-width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initial-scale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=1.0"&gt;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      &lt;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title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Document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&lt;/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title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&lt;/head&gt;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&lt;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body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algn="l"/>
            <a:b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&lt;/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body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&lt;/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html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algn="l"/>
            <a:r>
              <a:rPr sz="200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07C5E-EC17-EB6F-F830-E741A1357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321223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981200" y="11615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>
                <a:solidFill>
                  <a:srgbClr val="1E4B5A"/>
                </a:solidFill>
              </a:rPr>
              <a:t>Navegadores</a:t>
            </a:r>
            <a:r>
              <a:rPr b="1" dirty="0">
                <a:solidFill>
                  <a:srgbClr val="1E4B5A"/>
                </a:solidFill>
              </a:rPr>
              <a:t> web y </a:t>
            </a:r>
            <a:r>
              <a:rPr b="1" dirty="0" err="1">
                <a:solidFill>
                  <a:srgbClr val="1E4B5A"/>
                </a:solidFill>
              </a:rPr>
              <a:t>su</a:t>
            </a:r>
            <a:r>
              <a:rPr b="1" dirty="0">
                <a:solidFill>
                  <a:srgbClr val="1E4B5A"/>
                </a:solidFill>
              </a:rPr>
              <a:t> </a:t>
            </a:r>
            <a:r>
              <a:rPr b="1" dirty="0" err="1">
                <a:solidFill>
                  <a:srgbClr val="1E4B5A"/>
                </a:solidFill>
              </a:rPr>
              <a:t>funcionamiento</a:t>
            </a:r>
            <a:endParaRPr lang="es-ES" b="1" dirty="0">
              <a:solidFill>
                <a:srgbClr val="1E4B5A"/>
              </a:solidFill>
            </a:endParaRPr>
          </a:p>
          <a:p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dirty="0" err="1">
                <a:solidFill>
                  <a:srgbClr val="555555"/>
                </a:solidFill>
              </a:rPr>
              <a:t>Definición</a:t>
            </a:r>
            <a:r>
              <a:rPr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 err="1">
                <a:solidFill>
                  <a:srgbClr val="555555"/>
                </a:solidFill>
              </a:rPr>
              <a:t>Programas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que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permiten</a:t>
            </a:r>
            <a:r>
              <a:rPr dirty="0">
                <a:solidFill>
                  <a:srgbClr val="555555"/>
                </a:solidFill>
              </a:rPr>
              <a:t> acceder a </a:t>
            </a:r>
            <a:r>
              <a:rPr dirty="0" err="1">
                <a:solidFill>
                  <a:srgbClr val="555555"/>
                </a:solidFill>
              </a:rPr>
              <a:t>páginas</a:t>
            </a:r>
            <a:r>
              <a:rPr dirty="0">
                <a:solidFill>
                  <a:srgbClr val="555555"/>
                </a:solidFill>
              </a:rPr>
              <a:t> web y </a:t>
            </a:r>
            <a:r>
              <a:rPr dirty="0" err="1">
                <a:solidFill>
                  <a:srgbClr val="555555"/>
                </a:solidFill>
              </a:rPr>
              <a:t>mostrar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su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contenido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en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distintos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dispositivos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endParaRPr dirty="0">
              <a:solidFill>
                <a:srgbClr val="555555"/>
              </a:solidFill>
            </a:endParaRPr>
          </a:p>
          <a:p>
            <a:pPr algn="l"/>
            <a:r>
              <a:rPr dirty="0" err="1">
                <a:solidFill>
                  <a:srgbClr val="555555"/>
                </a:solidFill>
              </a:rPr>
              <a:t>Función</a:t>
            </a:r>
            <a:r>
              <a:rPr dirty="0">
                <a:solidFill>
                  <a:srgbClr val="555555"/>
                </a:solidFill>
              </a:rPr>
              <a:t> principal: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</a:t>
            </a:r>
            <a:r>
              <a:rPr dirty="0" err="1">
                <a:solidFill>
                  <a:srgbClr val="555555"/>
                </a:solidFill>
              </a:rPr>
              <a:t>Descargar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páginas</a:t>
            </a:r>
            <a:r>
              <a:rPr dirty="0">
                <a:solidFill>
                  <a:srgbClr val="555555"/>
                </a:solidFill>
              </a:rPr>
              <a:t> HTML de </a:t>
            </a:r>
            <a:r>
              <a:rPr dirty="0" err="1">
                <a:solidFill>
                  <a:srgbClr val="555555"/>
                </a:solidFill>
              </a:rPr>
              <a:t>servidores</a:t>
            </a:r>
            <a:r>
              <a:rPr dirty="0">
                <a:solidFill>
                  <a:srgbClr val="555555"/>
                </a:solidFill>
              </a:rPr>
              <a:t> y </a:t>
            </a:r>
            <a:r>
              <a:rPr dirty="0" err="1">
                <a:solidFill>
                  <a:srgbClr val="555555"/>
                </a:solidFill>
              </a:rPr>
              <a:t>renderizarlas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endParaRPr sz="2000" dirty="0">
              <a:solidFill>
                <a:srgbClr val="555555"/>
              </a:solidFill>
            </a:endParaRP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>
                <a:solidFill>
                  <a:srgbClr val="1E4B5A"/>
                </a:solidFill>
              </a:rPr>
              <a:t>Capas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dirty="0" err="1">
                <a:solidFill>
                  <a:srgbClr val="555555"/>
                </a:solidFill>
              </a:rPr>
              <a:t>Capas</a:t>
            </a:r>
            <a:r>
              <a:rPr sz="2400"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sz="2400" dirty="0" err="1">
                <a:solidFill>
                  <a:srgbClr val="555555"/>
                </a:solidFill>
              </a:rPr>
              <a:t>Contenedores</a:t>
            </a:r>
            <a:r>
              <a:rPr sz="2400" dirty="0">
                <a:solidFill>
                  <a:srgbClr val="555555"/>
                </a:solidFill>
              </a:rPr>
              <a:t> </a:t>
            </a:r>
            <a:r>
              <a:rPr sz="2400" dirty="0" err="1">
                <a:solidFill>
                  <a:srgbClr val="555555"/>
                </a:solidFill>
              </a:rPr>
              <a:t>rectangulares</a:t>
            </a:r>
            <a:r>
              <a:rPr sz="2400" dirty="0">
                <a:solidFill>
                  <a:srgbClr val="555555"/>
                </a:solidFill>
              </a:rPr>
              <a:t> </a:t>
            </a:r>
            <a:r>
              <a:rPr sz="2400" dirty="0" err="1">
                <a:solidFill>
                  <a:srgbClr val="555555"/>
                </a:solidFill>
              </a:rPr>
              <a:t>que</a:t>
            </a:r>
            <a:r>
              <a:rPr sz="2400" dirty="0">
                <a:solidFill>
                  <a:srgbClr val="555555"/>
                </a:solidFill>
              </a:rPr>
              <a:t> </a:t>
            </a:r>
            <a:r>
              <a:rPr sz="2400" dirty="0" err="1">
                <a:solidFill>
                  <a:srgbClr val="555555"/>
                </a:solidFill>
              </a:rPr>
              <a:t>organizan</a:t>
            </a:r>
            <a:r>
              <a:rPr sz="2400" dirty="0">
                <a:solidFill>
                  <a:srgbClr val="555555"/>
                </a:solidFill>
              </a:rPr>
              <a:t> </a:t>
            </a:r>
            <a:r>
              <a:rPr sz="2400" dirty="0" err="1">
                <a:solidFill>
                  <a:srgbClr val="555555"/>
                </a:solidFill>
              </a:rPr>
              <a:t>los</a:t>
            </a:r>
            <a:r>
              <a:rPr sz="2400" dirty="0">
                <a:solidFill>
                  <a:srgbClr val="555555"/>
                </a:solidFill>
              </a:rPr>
              <a:t> </a:t>
            </a:r>
            <a:r>
              <a:rPr sz="2400" dirty="0" err="1">
                <a:solidFill>
                  <a:srgbClr val="555555"/>
                </a:solidFill>
              </a:rPr>
              <a:t>elementos</a:t>
            </a:r>
            <a:r>
              <a:rPr sz="2400" dirty="0">
                <a:solidFill>
                  <a:srgbClr val="555555"/>
                </a:solidFill>
              </a:rPr>
              <a:t> de la </a:t>
            </a:r>
            <a:r>
              <a:rPr sz="2400" dirty="0" err="1">
                <a:solidFill>
                  <a:srgbClr val="555555"/>
                </a:solidFill>
              </a:rPr>
              <a:t>página</a:t>
            </a:r>
            <a:r>
              <a:rPr sz="2400" dirty="0">
                <a:solidFill>
                  <a:srgbClr val="555555"/>
                </a:solidFill>
              </a:rPr>
              <a:t>.</a:t>
            </a:r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r>
              <a:rPr lang="es-ES" sz="2400" dirty="0">
                <a:solidFill>
                  <a:srgbClr val="555555"/>
                </a:solidFill>
              </a:rPr>
              <a:t>Capas que se superponen</a:t>
            </a:r>
          </a:p>
          <a:p>
            <a:pPr algn="l"/>
            <a:r>
              <a:rPr lang="es-ES" sz="2400" dirty="0">
                <a:solidFill>
                  <a:srgbClr val="555555"/>
                </a:solidFill>
              </a:rPr>
              <a:t>Capas que se incluyen unas dentro de otras</a:t>
            </a:r>
            <a:endParaRPr sz="2400" dirty="0">
              <a:solidFill>
                <a:srgbClr val="555555"/>
              </a:solidFill>
            </a:endParaRPr>
          </a:p>
          <a:p>
            <a:pPr algn="l"/>
            <a:endParaRPr sz="1800" dirty="0">
              <a:solidFill>
                <a:srgbClr val="555555"/>
              </a:solidFill>
            </a:endParaRPr>
          </a:p>
          <a:p>
            <a:pPr algn="l"/>
            <a:r>
              <a:rPr lang="es-ES" sz="1800" dirty="0">
                <a:solidFill>
                  <a:srgbClr val="555555"/>
                </a:solidFill>
                <a:hlinkClick r:id="rId2"/>
              </a:rPr>
              <a:t>https://www.photopea.com/</a:t>
            </a:r>
            <a:endParaRPr sz="1800" dirty="0">
              <a:solidFill>
                <a:srgbClr val="555555"/>
              </a:solidFill>
            </a:endParaRP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02C24-DE31-CF7F-778C-177A6525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CFAFA-2F03-6870-2F54-75E4534AA5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FAD1D-794B-3C33-7408-276926BC62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B16218-8929-13B3-2E51-ADA4EE26D276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682BEA-1821-47D8-0E65-C68A7E2EEE45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Etiquetas - composición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ABC871-FD67-EF7D-7C33-F400654B9C32}"/>
              </a:ext>
            </a:extLst>
          </p:cNvPr>
          <p:cNvSpPr txBox="1">
            <a:spLocks/>
          </p:cNvSpPr>
          <p:nvPr/>
        </p:nvSpPr>
        <p:spPr>
          <a:xfrm>
            <a:off x="1103219" y="2011191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Apertura y cierre</a:t>
            </a:r>
          </a:p>
          <a:p>
            <a:pPr algn="l"/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 mayoría de las etiquetas HTML tienen:</a:t>
            </a:r>
          </a:p>
          <a:p>
            <a:pPr algn="l"/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&lt;etiqueta&gt;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Contenido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&lt;/etiqueta&gt;</a:t>
            </a:r>
          </a:p>
          <a:p>
            <a:pPr algn="l"/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Etiqueta de apertura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&lt;etiqueta&gt;</a:t>
            </a:r>
          </a:p>
          <a:p>
            <a:pPr algn="l"/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Etiqueta de cierre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&lt;/etiqueta&gt;</a:t>
            </a:r>
          </a:p>
          <a:p>
            <a:pPr algn="l"/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contenido va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entre ambas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br>
              <a:rPr lang="es-ES" sz="2000" dirty="0"/>
            </a:br>
            <a:endParaRPr lang="es-ES" sz="2000" dirty="0"/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CC43D204-B7A4-3E33-328F-752727E2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7016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3C4C-06C0-31E2-1176-DBA7807D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0AFA5-4377-7734-F759-043857E8F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26DED-5363-D824-DA83-EF1FF8F5D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F8A0A5-9170-ED1B-801E-36FCE404847A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1E5460-3C08-F7EC-3FB6-EF294398F160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Etiquetas - composición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3A9B2E-4E90-3320-661A-770806815DB6}"/>
              </a:ext>
            </a:extLst>
          </p:cNvPr>
          <p:cNvSpPr txBox="1">
            <a:spLocks/>
          </p:cNvSpPr>
          <p:nvPr/>
        </p:nvSpPr>
        <p:spPr>
          <a:xfrm>
            <a:off x="1237129" y="1683341"/>
            <a:ext cx="10004612" cy="4385764"/>
          </a:xfrm>
          <a:prstGeom prst="rect">
            <a:avLst/>
          </a:prstGeom>
        </p:spPr>
        <p:txBody>
          <a:bodyPr vert="horz" wrap="square" lIns="91440" tIns="30000" rIns="91440" bIns="3000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s-E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Atributos</a:t>
            </a:r>
          </a:p>
          <a:p>
            <a:pPr algn="l"/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Los atributos añaden </a:t>
            </a:r>
            <a:r>
              <a:rPr lang="es-E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información extra</a:t>
            </a: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la etiqueta.</a:t>
            </a:r>
          </a:p>
          <a:p>
            <a:pPr algn="l"/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&lt;etiqueta atributo="valor"&gt;Contenido&lt;/etiqueta&gt;</a:t>
            </a:r>
          </a:p>
          <a:p>
            <a:pPr algn="l"/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Van </a:t>
            </a:r>
            <a:r>
              <a:rPr lang="es-E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 la etiqueta de apertura</a:t>
            </a:r>
            <a:endParaRPr lang="es-E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escriben como nombre="valor"</a:t>
            </a:r>
          </a:p>
          <a:p>
            <a:pPr algn="l"/>
            <a:b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E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Ejemplo</a:t>
            </a:r>
          </a:p>
          <a:p>
            <a:pPr algn="l"/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&lt;a </a:t>
            </a:r>
            <a:r>
              <a:rPr lang="es-E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href</a:t>
            </a: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="https://www.google.com"&gt;Ir a Google&lt;/a&gt;</a:t>
            </a:r>
          </a:p>
          <a:p>
            <a:pPr algn="l"/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→ etiqueta</a:t>
            </a:r>
          </a:p>
          <a:p>
            <a:pPr algn="l"/>
            <a:r>
              <a:rPr lang="es-E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href</a:t>
            </a: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atributo</a:t>
            </a:r>
          </a:p>
          <a:p>
            <a:pPr algn="l"/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"https://www.google.com" → valor del atributo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81C50A37-1352-3129-B959-8D1D35BB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318065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13B9-06D6-E0A4-AB3D-BA7D7C00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468B-A41D-25A7-D2BD-321A5483D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23BD4-07C8-CF0B-0B35-6E366F2E8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3FF5739-A3CE-E4C7-5ADE-4A12CE11914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98F918-46AD-8ED0-2D31-7D7189322B64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Etiquetas - tipos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6B4C07-E41C-44E5-4C09-8BD698BE910F}"/>
              </a:ext>
            </a:extLst>
          </p:cNvPr>
          <p:cNvSpPr txBox="1">
            <a:spLocks/>
          </p:cNvSpPr>
          <p:nvPr/>
        </p:nvSpPr>
        <p:spPr>
          <a:xfrm>
            <a:off x="1237129" y="2347981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Etiquetas no semánticas</a:t>
            </a:r>
          </a:p>
          <a:p>
            <a:pPr algn="l"/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Solo sirven para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agrupar contenido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indican qué es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ese contenido 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CAJAS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Ejemplos: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div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contenedor genérico</a:t>
            </a:r>
          </a:p>
          <a:p>
            <a:pPr algn="l"/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span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contenedor en línea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8AD2CBEE-2225-80E3-826D-7F715451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3464146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7D91-3C96-E1E8-1BD8-915D25B4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88EAD-847E-AD08-C273-612449466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1410D-111F-FB2A-E67E-6B76F937C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E616080-D5D5-0C4B-1C4B-B462A38C3D50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D34F40-440A-0F1F-0D43-607AAEA0886B}"/>
              </a:ext>
            </a:extLst>
          </p:cNvPr>
          <p:cNvSpPr txBox="1">
            <a:spLocks/>
          </p:cNvSpPr>
          <p:nvPr/>
        </p:nvSpPr>
        <p:spPr>
          <a:xfrm>
            <a:off x="1870379" y="73280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Etiquetas - tipos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B2C463-7032-89D5-CCD0-280BCBBB4420}"/>
              </a:ext>
            </a:extLst>
          </p:cNvPr>
          <p:cNvSpPr txBox="1">
            <a:spLocks/>
          </p:cNvSpPr>
          <p:nvPr/>
        </p:nvSpPr>
        <p:spPr>
          <a:xfrm>
            <a:off x="1181469" y="1931895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Etiquetas semánticas</a:t>
            </a:r>
          </a:p>
          <a:p>
            <a:pPr algn="l"/>
            <a:endParaRPr lang="es-ES" sz="1800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Indican </a:t>
            </a:r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significado del contenido</a:t>
            </a:r>
            <a:b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Ayudan a: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Entender mejor el código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Mejorar la accesibilidad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Mejorar el posicionamiento (SEO)</a:t>
            </a:r>
          </a:p>
          <a:p>
            <a:pPr algn="l"/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Ejemplos:</a:t>
            </a:r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header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cabecera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nav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menú de navegación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main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contenido principal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section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sección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article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contenido independiente</a:t>
            </a:r>
          </a:p>
          <a:p>
            <a:pPr algn="l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footer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→ pie de página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53527845-4927-F4B5-0C95-5659F852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3236472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886281" y="9311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Etiquetas</a:t>
            </a:r>
            <a:r>
              <a:rPr b="1" dirty="0">
                <a:solidFill>
                  <a:srgbClr val="1E4B5A"/>
                </a:solidFill>
              </a:rPr>
              <a:t> de </a:t>
            </a:r>
            <a:r>
              <a:rPr b="1" dirty="0" err="1">
                <a:solidFill>
                  <a:srgbClr val="1E4B5A"/>
                </a:solidFill>
              </a:rPr>
              <a:t>formato</a:t>
            </a:r>
            <a:r>
              <a:rPr b="1" dirty="0">
                <a:solidFill>
                  <a:srgbClr val="1E4B5A"/>
                </a:solidFill>
              </a:rPr>
              <a:t> y </a:t>
            </a:r>
            <a:r>
              <a:rPr b="1" dirty="0" err="1">
                <a:solidFill>
                  <a:srgbClr val="1E4B5A"/>
                </a:solidFill>
              </a:rPr>
              <a:t>estructura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dirty="0" err="1">
                <a:solidFill>
                  <a:srgbClr val="555555"/>
                </a:solidFill>
              </a:rPr>
              <a:t>Títulos</a:t>
            </a:r>
            <a:r>
              <a:rPr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</a:t>
            </a:r>
            <a:r>
              <a:rPr dirty="0" err="1">
                <a:solidFill>
                  <a:srgbClr val="555555"/>
                </a:solidFill>
              </a:rPr>
              <a:t>Etiquetas</a:t>
            </a:r>
            <a:r>
              <a:rPr dirty="0">
                <a:solidFill>
                  <a:srgbClr val="555555"/>
                </a:solidFill>
              </a:rPr>
              <a:t> h1 a h6, </a:t>
            </a:r>
            <a:r>
              <a:rPr dirty="0" err="1">
                <a:solidFill>
                  <a:srgbClr val="555555"/>
                </a:solidFill>
              </a:rPr>
              <a:t>fundamentales</a:t>
            </a:r>
            <a:r>
              <a:rPr dirty="0">
                <a:solidFill>
                  <a:srgbClr val="555555"/>
                </a:solidFill>
              </a:rPr>
              <a:t> para la </a:t>
            </a:r>
            <a:r>
              <a:rPr dirty="0" err="1">
                <a:solidFill>
                  <a:srgbClr val="555555"/>
                </a:solidFill>
              </a:rPr>
              <a:t>estructura</a:t>
            </a:r>
            <a:r>
              <a:rPr dirty="0">
                <a:solidFill>
                  <a:srgbClr val="555555"/>
                </a:solidFill>
              </a:rPr>
              <a:t> y </a:t>
            </a:r>
            <a:r>
              <a:rPr dirty="0" err="1">
                <a:solidFill>
                  <a:srgbClr val="555555"/>
                </a:solidFill>
              </a:rPr>
              <a:t>el</a:t>
            </a:r>
            <a:r>
              <a:rPr dirty="0">
                <a:solidFill>
                  <a:srgbClr val="555555"/>
                </a:solidFill>
              </a:rPr>
              <a:t> SEO.</a:t>
            </a:r>
          </a:p>
          <a:p>
            <a:pPr algn="l"/>
            <a:endParaRPr dirty="0">
              <a:solidFill>
                <a:srgbClr val="555555"/>
              </a:solidFill>
            </a:endParaRPr>
          </a:p>
          <a:p>
            <a:pPr algn="l"/>
            <a:r>
              <a:rPr dirty="0">
                <a:solidFill>
                  <a:srgbClr val="555555"/>
                </a:solidFill>
              </a:rPr>
              <a:t>Formato de </a:t>
            </a:r>
            <a:r>
              <a:rPr dirty="0" err="1">
                <a:solidFill>
                  <a:srgbClr val="555555"/>
                </a:solidFill>
              </a:rPr>
              <a:t>texto</a:t>
            </a:r>
            <a:r>
              <a:rPr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&lt;b&gt; vs &lt;strong&gt;: </a:t>
            </a:r>
            <a:r>
              <a:rPr dirty="0" err="1">
                <a:solidFill>
                  <a:srgbClr val="555555"/>
                </a:solidFill>
              </a:rPr>
              <a:t>negrita</a:t>
            </a:r>
            <a:r>
              <a:rPr dirty="0">
                <a:solidFill>
                  <a:srgbClr val="555555"/>
                </a:solidFill>
              </a:rPr>
              <a:t> sin/con </a:t>
            </a:r>
            <a:r>
              <a:rPr dirty="0" err="1">
                <a:solidFill>
                  <a:srgbClr val="555555"/>
                </a:solidFill>
              </a:rPr>
              <a:t>significado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semántico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</a:t>
            </a:r>
            <a:r>
              <a:rPr dirty="0" err="1">
                <a:solidFill>
                  <a:srgbClr val="555555"/>
                </a:solidFill>
              </a:rPr>
              <a:t>i</a:t>
            </a:r>
            <a:r>
              <a:rPr dirty="0">
                <a:solidFill>
                  <a:srgbClr val="555555"/>
                </a:solidFill>
              </a:rPr>
              <a:t>&gt; vs &lt;</a:t>
            </a:r>
            <a:r>
              <a:rPr dirty="0" err="1">
                <a:solidFill>
                  <a:srgbClr val="555555"/>
                </a:solidFill>
              </a:rPr>
              <a:t>em</a:t>
            </a:r>
            <a:r>
              <a:rPr dirty="0">
                <a:solidFill>
                  <a:srgbClr val="555555"/>
                </a:solidFill>
              </a:rPr>
              <a:t>&gt;: </a:t>
            </a:r>
            <a:r>
              <a:rPr dirty="0" err="1">
                <a:solidFill>
                  <a:srgbClr val="555555"/>
                </a:solidFill>
              </a:rPr>
              <a:t>cursiva</a:t>
            </a:r>
            <a:r>
              <a:rPr dirty="0">
                <a:solidFill>
                  <a:srgbClr val="555555"/>
                </a:solidFill>
              </a:rPr>
              <a:t> sin/con </a:t>
            </a:r>
            <a:r>
              <a:rPr dirty="0" err="1">
                <a:solidFill>
                  <a:srgbClr val="555555"/>
                </a:solidFill>
              </a:rPr>
              <a:t>énfasis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semántico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&lt;p&gt;: define </a:t>
            </a:r>
            <a:r>
              <a:rPr dirty="0" err="1">
                <a:solidFill>
                  <a:srgbClr val="555555"/>
                </a:solidFill>
              </a:rPr>
              <a:t>párrafos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</a:t>
            </a:r>
            <a:r>
              <a:rPr dirty="0" err="1">
                <a:solidFill>
                  <a:srgbClr val="555555"/>
                </a:solidFill>
              </a:rPr>
              <a:t>br</a:t>
            </a:r>
            <a:r>
              <a:rPr dirty="0">
                <a:solidFill>
                  <a:srgbClr val="555555"/>
                </a:solidFill>
              </a:rPr>
              <a:t>/&gt;: </a:t>
            </a:r>
            <a:r>
              <a:rPr dirty="0" err="1">
                <a:solidFill>
                  <a:srgbClr val="555555"/>
                </a:solidFill>
              </a:rPr>
              <a:t>salto</a:t>
            </a:r>
            <a:r>
              <a:rPr dirty="0">
                <a:solidFill>
                  <a:srgbClr val="555555"/>
                </a:solidFill>
              </a:rPr>
              <a:t> de </a:t>
            </a:r>
            <a:r>
              <a:rPr dirty="0" err="1">
                <a:solidFill>
                  <a:srgbClr val="555555"/>
                </a:solidFill>
              </a:rPr>
              <a:t>línea</a:t>
            </a:r>
            <a:r>
              <a:rPr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>
                <a:solidFill>
                  <a:srgbClr val="1E4B5A"/>
                </a:solidFill>
              </a:rPr>
              <a:t>Listas</a:t>
            </a:r>
            <a:endParaRPr lang="es-ES"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 err="1">
                <a:solidFill>
                  <a:srgbClr val="555555"/>
                </a:solidFill>
              </a:rPr>
              <a:t>Definición</a:t>
            </a:r>
            <a:r>
              <a:rPr sz="2800"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sz="2800" dirty="0">
                <a:solidFill>
                  <a:srgbClr val="555555"/>
                </a:solidFill>
              </a:rPr>
              <a:t>Se </a:t>
            </a:r>
            <a:r>
              <a:rPr sz="2800" dirty="0" err="1">
                <a:solidFill>
                  <a:srgbClr val="555555"/>
                </a:solidFill>
              </a:rPr>
              <a:t>utilizan</a:t>
            </a:r>
            <a:r>
              <a:rPr sz="2800" dirty="0">
                <a:solidFill>
                  <a:srgbClr val="555555"/>
                </a:solidFill>
              </a:rPr>
              <a:t> para </a:t>
            </a:r>
            <a:r>
              <a:rPr sz="2800" dirty="0" err="1">
                <a:solidFill>
                  <a:srgbClr val="555555"/>
                </a:solidFill>
              </a:rPr>
              <a:t>representar</a:t>
            </a:r>
            <a:r>
              <a:rPr sz="2800" dirty="0">
                <a:solidFill>
                  <a:srgbClr val="555555"/>
                </a:solidFill>
              </a:rPr>
              <a:t> series de </a:t>
            </a:r>
            <a:r>
              <a:rPr sz="2800" dirty="0" err="1">
                <a:solidFill>
                  <a:srgbClr val="555555"/>
                </a:solidFill>
              </a:rPr>
              <a:t>datos</a:t>
            </a:r>
            <a:r>
              <a:rPr sz="2800" dirty="0">
                <a:solidFill>
                  <a:srgbClr val="555555"/>
                </a:solidFill>
              </a:rPr>
              <a:t> </a:t>
            </a:r>
            <a:r>
              <a:rPr sz="2800" dirty="0" err="1">
                <a:solidFill>
                  <a:srgbClr val="555555"/>
                </a:solidFill>
              </a:rPr>
              <a:t>ordenados</a:t>
            </a:r>
            <a:r>
              <a:rPr sz="2800" dirty="0">
                <a:solidFill>
                  <a:srgbClr val="555555"/>
                </a:solidFill>
              </a:rPr>
              <a:t> o </a:t>
            </a:r>
            <a:r>
              <a:rPr sz="2800" dirty="0" err="1">
                <a:solidFill>
                  <a:srgbClr val="555555"/>
                </a:solidFill>
              </a:rPr>
              <a:t>enumerados</a:t>
            </a:r>
            <a:r>
              <a:rPr sz="2800" dirty="0">
                <a:solidFill>
                  <a:srgbClr val="555555"/>
                </a:solidFill>
              </a:rPr>
              <a:t>.</a:t>
            </a:r>
          </a:p>
          <a:p>
            <a:pPr algn="l"/>
            <a:endParaRPr sz="2800" dirty="0">
              <a:solidFill>
                <a:srgbClr val="555555"/>
              </a:solidFill>
            </a:endParaRPr>
          </a:p>
          <a:p>
            <a:pPr algn="l"/>
            <a:r>
              <a:rPr sz="2800" b="1" dirty="0" err="1">
                <a:solidFill>
                  <a:srgbClr val="555555"/>
                </a:solidFill>
              </a:rPr>
              <a:t>Tipos</a:t>
            </a:r>
            <a:r>
              <a:rPr sz="2800" b="1" dirty="0">
                <a:solidFill>
                  <a:srgbClr val="555555"/>
                </a:solidFill>
              </a:rPr>
              <a:t> de </a:t>
            </a:r>
            <a:r>
              <a:rPr sz="2800" b="1" dirty="0" err="1">
                <a:solidFill>
                  <a:srgbClr val="555555"/>
                </a:solidFill>
              </a:rPr>
              <a:t>listas</a:t>
            </a:r>
            <a:r>
              <a:rPr sz="2800" b="1"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sz="2800" dirty="0">
                <a:solidFill>
                  <a:srgbClr val="555555"/>
                </a:solidFill>
              </a:rPr>
              <a:t>- </a:t>
            </a:r>
            <a:r>
              <a:rPr sz="2800" dirty="0" err="1">
                <a:solidFill>
                  <a:srgbClr val="555555"/>
                </a:solidFill>
              </a:rPr>
              <a:t>Listas</a:t>
            </a:r>
            <a:r>
              <a:rPr sz="2800" dirty="0">
                <a:solidFill>
                  <a:srgbClr val="555555"/>
                </a:solidFill>
              </a:rPr>
              <a:t> sin </a:t>
            </a:r>
            <a:r>
              <a:rPr sz="2800" dirty="0" err="1">
                <a:solidFill>
                  <a:srgbClr val="555555"/>
                </a:solidFill>
              </a:rPr>
              <a:t>orden</a:t>
            </a:r>
            <a:r>
              <a:rPr sz="2800" dirty="0">
                <a:solidFill>
                  <a:srgbClr val="555555"/>
                </a:solidFill>
              </a:rPr>
              <a:t>: &lt;ul&gt; y &lt;li&gt;.</a:t>
            </a:r>
          </a:p>
          <a:p>
            <a:pPr algn="l"/>
            <a:r>
              <a:rPr sz="2800" dirty="0">
                <a:solidFill>
                  <a:srgbClr val="555555"/>
                </a:solidFill>
              </a:rPr>
              <a:t>- </a:t>
            </a:r>
            <a:r>
              <a:rPr sz="2800" dirty="0" err="1">
                <a:solidFill>
                  <a:srgbClr val="555555"/>
                </a:solidFill>
              </a:rPr>
              <a:t>Listas</a:t>
            </a:r>
            <a:r>
              <a:rPr sz="2800" dirty="0">
                <a:solidFill>
                  <a:srgbClr val="555555"/>
                </a:solidFill>
              </a:rPr>
              <a:t> </a:t>
            </a:r>
            <a:r>
              <a:rPr sz="2800" dirty="0" err="1">
                <a:solidFill>
                  <a:srgbClr val="555555"/>
                </a:solidFill>
              </a:rPr>
              <a:t>ordenadas</a:t>
            </a:r>
            <a:r>
              <a:rPr sz="2800" dirty="0">
                <a:solidFill>
                  <a:srgbClr val="555555"/>
                </a:solidFill>
              </a:rPr>
              <a:t>: &lt;</a:t>
            </a:r>
            <a:r>
              <a:rPr sz="2800" dirty="0" err="1">
                <a:solidFill>
                  <a:srgbClr val="555555"/>
                </a:solidFill>
              </a:rPr>
              <a:t>ol</a:t>
            </a:r>
            <a:r>
              <a:rPr sz="2800" dirty="0">
                <a:solidFill>
                  <a:srgbClr val="555555"/>
                </a:solidFill>
              </a:rPr>
              <a:t>&gt; y &lt;li&gt;.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>
                <a:solidFill>
                  <a:srgbClr val="1E4B5A"/>
                </a:solidFill>
              </a:rPr>
              <a:t>Enlaces y </a:t>
            </a:r>
            <a:r>
              <a:rPr b="1" dirty="0" err="1">
                <a:solidFill>
                  <a:srgbClr val="1E4B5A"/>
                </a:solidFill>
              </a:rPr>
              <a:t>direccionamientos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 (Uniform Resource Locator):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Dirección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única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para acceder a un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recurso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Internet.</a:t>
            </a:r>
          </a:p>
          <a:p>
            <a:pPr algn="l"/>
            <a:endParaRPr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Formato: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https://www.google.com/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Creación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enlaces:</a:t>
            </a:r>
          </a:p>
          <a:p>
            <a:pPr algn="l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Etiqueta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&lt;a&gt;.</a:t>
            </a:r>
          </a:p>
          <a:p>
            <a:pPr algn="l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Atributo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obligatorio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href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donde se dirige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El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contenido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actúa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como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ancla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Destino del enlace:</a:t>
            </a:r>
          </a:p>
          <a:p>
            <a:pPr algn="l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_blank: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nueva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ventana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pestaña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abre el contenido en nueva pestaña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_self: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misma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ventana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1F6050-3D29-F681-1B20-7AFE550C6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849" y="5513351"/>
            <a:ext cx="7116168" cy="6954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C801-7290-95E7-A784-AE8BD6E9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B9F5-F408-8860-432E-1B740E1A2F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2AD83-FCF2-CC31-EA96-8E04E84814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37E101-7B23-100E-40DF-79F0FC808E29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513D75-367F-0FED-651C-B602C4AA6971}"/>
              </a:ext>
            </a:extLst>
          </p:cNvPr>
          <p:cNvSpPr txBox="1">
            <a:spLocks/>
          </p:cNvSpPr>
          <p:nvPr/>
        </p:nvSpPr>
        <p:spPr>
          <a:xfrm>
            <a:off x="1981200" y="7572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Imágenes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305F576-B7B3-9B6A-01F2-8DF943160B8E}"/>
              </a:ext>
            </a:extLst>
          </p:cNvPr>
          <p:cNvSpPr txBox="1">
            <a:spLocks/>
          </p:cNvSpPr>
          <p:nvPr/>
        </p:nvSpPr>
        <p:spPr>
          <a:xfrm>
            <a:off x="1197372" y="1938930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Las imágenes se insertan en una página web con la etiqueta:</a:t>
            </a:r>
          </a:p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 una etiqueta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vacía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(no tiene cierre).</a:t>
            </a:r>
          </a:p>
          <a:p>
            <a:pPr algn="l"/>
            <a:b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Atributos principales</a:t>
            </a:r>
          </a:p>
          <a:p>
            <a:pPr algn="l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ruta del archivo de imagen</a:t>
            </a:r>
          </a:p>
          <a:p>
            <a:pPr algn="l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alt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texto alternativo (obligatorio y muy importante)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Ejemplo: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="imagen.jpg"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alt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="Descripción de la imagen"&gt;</a:t>
            </a:r>
          </a:p>
          <a:p>
            <a:pPr algn="l"/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CBD12250-4E9E-3495-0B7A-AEA7B02C5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2781317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7E8D5-C92C-934B-9A6A-5999B41E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E293-9C02-2C0E-BDD0-2B7B27716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BAC79-7D47-DB71-C623-1C2BA460D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1D06633-8890-0891-2F76-8ABDC8410CBA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667C76-E731-EF2C-E236-A398B322B121}"/>
              </a:ext>
            </a:extLst>
          </p:cNvPr>
          <p:cNvSpPr txBox="1">
            <a:spLocks/>
          </p:cNvSpPr>
          <p:nvPr/>
        </p:nvSpPr>
        <p:spPr>
          <a:xfrm>
            <a:off x="1981200" y="7572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rgbClr val="1E4B5A"/>
                </a:solidFill>
              </a:rPr>
              <a:t>Videos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7FBEA7-BE51-5192-1A7B-CDEC3749A37C}"/>
              </a:ext>
            </a:extLst>
          </p:cNvPr>
          <p:cNvSpPr txBox="1">
            <a:spLocks/>
          </p:cNvSpPr>
          <p:nvPr/>
        </p:nvSpPr>
        <p:spPr>
          <a:xfrm>
            <a:off x="1197372" y="1938930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Los vídeos se insertan en una página web con la etiqueta:</a:t>
            </a:r>
          </a:p>
          <a:p>
            <a:pPr algn="l"/>
            <a:r>
              <a:rPr lang="es-E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&lt;video&gt;</a:t>
            </a:r>
          </a:p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es una etiqueta vacía,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tiene apertura y cierre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l"/>
            <a:b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Atributos principales</a:t>
            </a:r>
          </a:p>
          <a:p>
            <a:pPr algn="l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ruta del archivo de vídeo</a:t>
            </a:r>
          </a:p>
          <a:p>
            <a:pPr algn="l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controls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muestra los controles de reproducción</a:t>
            </a:r>
          </a:p>
          <a:p>
            <a:pPr algn="l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autoplay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reproduce el vídeo automáticamente</a:t>
            </a:r>
          </a:p>
          <a:p>
            <a:pPr algn="l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loop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repite el vídeo</a:t>
            </a:r>
          </a:p>
          <a:p>
            <a:pPr algn="l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muted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silencia el vídeo</a:t>
            </a:r>
          </a:p>
          <a:p>
            <a:pPr algn="l"/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184A2EAC-B3BF-FD3A-4BC0-1F27A441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  <p:extLst>
      <p:ext uri="{BB962C8B-B14F-4D97-AF65-F5344CB8AC3E}">
        <p14:creationId xmlns:p14="http://schemas.microsoft.com/office/powerpoint/2010/main" val="813085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894233" y="8538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>
                <a:solidFill>
                  <a:srgbClr val="1E4B5A"/>
                </a:solidFill>
              </a:rPr>
              <a:t>Tablas</a:t>
            </a:r>
            <a:endParaRPr b="1" dirty="0">
              <a:solidFill>
                <a:srgbClr val="1E4B5A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21227" y="1996815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 fontScale="6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>
                <a:solidFill>
                  <a:srgbClr val="555555"/>
                </a:solidFill>
              </a:rPr>
              <a:t>Uso </a:t>
            </a:r>
            <a:r>
              <a:rPr b="1" dirty="0" err="1">
                <a:solidFill>
                  <a:srgbClr val="555555"/>
                </a:solidFill>
              </a:rPr>
              <a:t>recomendado</a:t>
            </a:r>
            <a:r>
              <a:rPr b="1"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 err="1">
                <a:solidFill>
                  <a:srgbClr val="555555"/>
                </a:solidFill>
              </a:rPr>
              <a:t>Mostrar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datos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en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formato</a:t>
            </a:r>
            <a:r>
              <a:rPr dirty="0">
                <a:solidFill>
                  <a:srgbClr val="555555"/>
                </a:solidFill>
              </a:rPr>
              <a:t> tabular. No se </a:t>
            </a:r>
            <a:r>
              <a:rPr dirty="0" err="1">
                <a:solidFill>
                  <a:srgbClr val="555555"/>
                </a:solidFill>
              </a:rPr>
              <a:t>recomienda</a:t>
            </a:r>
            <a:r>
              <a:rPr dirty="0">
                <a:solidFill>
                  <a:srgbClr val="555555"/>
                </a:solidFill>
              </a:rPr>
              <a:t> para </a:t>
            </a:r>
            <a:r>
              <a:rPr dirty="0" err="1">
                <a:solidFill>
                  <a:srgbClr val="555555"/>
                </a:solidFill>
              </a:rPr>
              <a:t>maquetar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páginas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endParaRPr dirty="0">
              <a:solidFill>
                <a:srgbClr val="555555"/>
              </a:solidFill>
            </a:endParaRPr>
          </a:p>
          <a:p>
            <a:pPr algn="l"/>
            <a:r>
              <a:rPr dirty="0" err="1">
                <a:solidFill>
                  <a:srgbClr val="555555"/>
                </a:solidFill>
              </a:rPr>
              <a:t>Etiquetas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básicas</a:t>
            </a:r>
            <a:r>
              <a:rPr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&lt;table&gt;: </a:t>
            </a:r>
            <a:r>
              <a:rPr dirty="0" err="1">
                <a:solidFill>
                  <a:srgbClr val="555555"/>
                </a:solidFill>
              </a:rPr>
              <a:t>tabla</a:t>
            </a:r>
            <a:r>
              <a:rPr dirty="0">
                <a:solidFill>
                  <a:srgbClr val="555555"/>
                </a:solidFill>
              </a:rPr>
              <a:t> completa.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&lt;tr&gt;: fila.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&lt;td&gt;: </a:t>
            </a:r>
            <a:r>
              <a:rPr dirty="0" err="1">
                <a:solidFill>
                  <a:srgbClr val="555555"/>
                </a:solidFill>
              </a:rPr>
              <a:t>celda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endParaRPr dirty="0">
              <a:solidFill>
                <a:srgbClr val="555555"/>
              </a:solidFill>
            </a:endParaRPr>
          </a:p>
          <a:p>
            <a:pPr algn="l"/>
            <a:r>
              <a:rPr dirty="0" err="1">
                <a:solidFill>
                  <a:srgbClr val="555555"/>
                </a:solidFill>
              </a:rPr>
              <a:t>Estructura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semántica</a:t>
            </a:r>
            <a:r>
              <a:rPr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&lt;caption&gt;: </a:t>
            </a:r>
            <a:r>
              <a:rPr dirty="0" err="1">
                <a:solidFill>
                  <a:srgbClr val="555555"/>
                </a:solidFill>
              </a:rPr>
              <a:t>título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</a:t>
            </a:r>
            <a:r>
              <a:rPr dirty="0" err="1">
                <a:solidFill>
                  <a:srgbClr val="555555"/>
                </a:solidFill>
              </a:rPr>
              <a:t>thead</a:t>
            </a:r>
            <a:r>
              <a:rPr dirty="0">
                <a:solidFill>
                  <a:srgbClr val="555555"/>
                </a:solidFill>
              </a:rPr>
              <a:t>&gt;: cabecera.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</a:t>
            </a:r>
            <a:r>
              <a:rPr dirty="0" err="1">
                <a:solidFill>
                  <a:srgbClr val="555555"/>
                </a:solidFill>
              </a:rPr>
              <a:t>tbody</a:t>
            </a:r>
            <a:r>
              <a:rPr dirty="0">
                <a:solidFill>
                  <a:srgbClr val="555555"/>
                </a:solidFill>
              </a:rPr>
              <a:t>&gt;: </a:t>
            </a:r>
            <a:r>
              <a:rPr dirty="0" err="1">
                <a:solidFill>
                  <a:srgbClr val="555555"/>
                </a:solidFill>
              </a:rPr>
              <a:t>cuerpo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&lt;</a:t>
            </a:r>
            <a:r>
              <a:rPr dirty="0" err="1">
                <a:solidFill>
                  <a:srgbClr val="555555"/>
                </a:solidFill>
              </a:rPr>
              <a:t>tfoot</a:t>
            </a:r>
            <a:r>
              <a:rPr dirty="0">
                <a:solidFill>
                  <a:srgbClr val="555555"/>
                </a:solidFill>
              </a:rPr>
              <a:t>&gt;: pie.</a:t>
            </a:r>
          </a:p>
          <a:p>
            <a:pPr algn="l"/>
            <a:endParaRPr dirty="0">
              <a:solidFill>
                <a:srgbClr val="555555"/>
              </a:solidFill>
            </a:endParaRP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C45399-44DC-5E4D-AF20-6656FFB70967}"/>
              </a:ext>
            </a:extLst>
          </p:cNvPr>
          <p:cNvSpPr/>
          <p:nvPr/>
        </p:nvSpPr>
        <p:spPr>
          <a:xfrm>
            <a:off x="600075" y="788895"/>
            <a:ext cx="11010900" cy="556745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ECD5DB-8DB1-F64C-E41A-64F1A046016F}"/>
              </a:ext>
            </a:extLst>
          </p:cNvPr>
          <p:cNvSpPr txBox="1">
            <a:spLocks/>
          </p:cNvSpPr>
          <p:nvPr/>
        </p:nvSpPr>
        <p:spPr>
          <a:xfrm>
            <a:off x="1949892" y="9969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>
                <a:solidFill>
                  <a:srgbClr val="1E4B5A"/>
                </a:solidFill>
              </a:rPr>
              <a:t>Marcos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0D7B5E-9BC3-A94C-BF8D-77EF4FD2AE40}"/>
              </a:ext>
            </a:extLst>
          </p:cNvPr>
          <p:cNvSpPr txBox="1">
            <a:spLocks/>
          </p:cNvSpPr>
          <p:nvPr/>
        </p:nvSpPr>
        <p:spPr>
          <a:xfrm>
            <a:off x="1237129" y="2240928"/>
            <a:ext cx="10004612" cy="4052296"/>
          </a:xfrm>
          <a:prstGeom prst="rect">
            <a:avLst/>
          </a:prstGeom>
        </p:spPr>
        <p:txBody>
          <a:bodyPr vert="horz" wrap="square" lIns="91440" tIns="30000" rIns="91440" bIns="30000" rtlCol="0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dirty="0" err="1">
                <a:solidFill>
                  <a:srgbClr val="555555"/>
                </a:solidFill>
              </a:rPr>
              <a:t>Elemento</a:t>
            </a:r>
            <a:r>
              <a:rPr dirty="0">
                <a:solidFill>
                  <a:srgbClr val="555555"/>
                </a:solidFill>
              </a:rPr>
              <a:t> &lt;</a:t>
            </a:r>
            <a:r>
              <a:rPr dirty="0" err="1">
                <a:solidFill>
                  <a:srgbClr val="555555"/>
                </a:solidFill>
              </a:rPr>
              <a:t>iframe</a:t>
            </a:r>
            <a:r>
              <a:rPr dirty="0">
                <a:solidFill>
                  <a:srgbClr val="555555"/>
                </a:solidFill>
              </a:rPr>
              <a:t>&gt;:</a:t>
            </a:r>
          </a:p>
          <a:p>
            <a:pPr algn="l"/>
            <a:r>
              <a:rPr dirty="0" err="1">
                <a:solidFill>
                  <a:srgbClr val="555555"/>
                </a:solidFill>
              </a:rPr>
              <a:t>Único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tipo</a:t>
            </a:r>
            <a:r>
              <a:rPr dirty="0">
                <a:solidFill>
                  <a:srgbClr val="555555"/>
                </a:solidFill>
              </a:rPr>
              <a:t> de </a:t>
            </a:r>
            <a:r>
              <a:rPr dirty="0" err="1">
                <a:solidFill>
                  <a:srgbClr val="555555"/>
                </a:solidFill>
              </a:rPr>
              <a:t>marco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en</a:t>
            </a:r>
            <a:r>
              <a:rPr dirty="0">
                <a:solidFill>
                  <a:srgbClr val="555555"/>
                </a:solidFill>
              </a:rPr>
              <a:t> HTML5.</a:t>
            </a:r>
          </a:p>
          <a:p>
            <a:pPr algn="l"/>
            <a:endParaRPr dirty="0">
              <a:solidFill>
                <a:srgbClr val="555555"/>
              </a:solidFill>
            </a:endParaRPr>
          </a:p>
          <a:p>
            <a:pPr algn="l"/>
            <a:r>
              <a:rPr dirty="0" err="1">
                <a:solidFill>
                  <a:srgbClr val="555555"/>
                </a:solidFill>
              </a:rPr>
              <a:t>Función</a:t>
            </a:r>
            <a:r>
              <a:rPr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 err="1">
                <a:solidFill>
                  <a:srgbClr val="555555"/>
                </a:solidFill>
              </a:rPr>
              <a:t>Permite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incrustar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una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página</a:t>
            </a:r>
            <a:r>
              <a:rPr dirty="0">
                <a:solidFill>
                  <a:srgbClr val="555555"/>
                </a:solidFill>
              </a:rPr>
              <a:t> web </a:t>
            </a:r>
            <a:r>
              <a:rPr dirty="0" err="1">
                <a:solidFill>
                  <a:srgbClr val="555555"/>
                </a:solidFill>
              </a:rPr>
              <a:t>dentro</a:t>
            </a:r>
            <a:r>
              <a:rPr dirty="0">
                <a:solidFill>
                  <a:srgbClr val="555555"/>
                </a:solidFill>
              </a:rPr>
              <a:t> de </a:t>
            </a:r>
            <a:r>
              <a:rPr dirty="0" err="1">
                <a:solidFill>
                  <a:srgbClr val="555555"/>
                </a:solidFill>
              </a:rPr>
              <a:t>otra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endParaRPr dirty="0">
              <a:solidFill>
                <a:srgbClr val="555555"/>
              </a:solidFill>
            </a:endParaRPr>
          </a:p>
          <a:p>
            <a:pPr algn="l"/>
            <a:r>
              <a:rPr dirty="0" err="1">
                <a:solidFill>
                  <a:srgbClr val="555555"/>
                </a:solidFill>
              </a:rPr>
              <a:t>Atributos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principales</a:t>
            </a:r>
            <a:r>
              <a:rPr dirty="0">
                <a:solidFill>
                  <a:srgbClr val="555555"/>
                </a:solidFill>
              </a:rPr>
              <a:t>: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</a:t>
            </a:r>
            <a:r>
              <a:rPr dirty="0" err="1">
                <a:solidFill>
                  <a:srgbClr val="555555"/>
                </a:solidFill>
              </a:rPr>
              <a:t>src</a:t>
            </a:r>
            <a:r>
              <a:rPr dirty="0">
                <a:solidFill>
                  <a:srgbClr val="555555"/>
                </a:solidFill>
              </a:rPr>
              <a:t>: </a:t>
            </a:r>
            <a:r>
              <a:rPr dirty="0" err="1">
                <a:solidFill>
                  <a:srgbClr val="555555"/>
                </a:solidFill>
              </a:rPr>
              <a:t>recurso</a:t>
            </a:r>
            <a:r>
              <a:rPr dirty="0">
                <a:solidFill>
                  <a:srgbClr val="555555"/>
                </a:solidFill>
              </a:rPr>
              <a:t> a </a:t>
            </a:r>
            <a:r>
              <a:rPr dirty="0" err="1">
                <a:solidFill>
                  <a:srgbClr val="555555"/>
                </a:solidFill>
              </a:rPr>
              <a:t>mostrar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name: </a:t>
            </a:r>
            <a:r>
              <a:rPr dirty="0" err="1">
                <a:solidFill>
                  <a:srgbClr val="555555"/>
                </a:solidFill>
              </a:rPr>
              <a:t>nombre</a:t>
            </a:r>
            <a:r>
              <a:rPr dirty="0">
                <a:solidFill>
                  <a:srgbClr val="555555"/>
                </a:solidFill>
              </a:rPr>
              <a:t> del </a:t>
            </a:r>
            <a:r>
              <a:rPr dirty="0" err="1">
                <a:solidFill>
                  <a:srgbClr val="555555"/>
                </a:solidFill>
              </a:rPr>
              <a:t>contenido</a:t>
            </a:r>
            <a:r>
              <a:rPr dirty="0">
                <a:solidFill>
                  <a:srgbClr val="555555"/>
                </a:solidFill>
              </a:rPr>
              <a:t> </a:t>
            </a:r>
            <a:r>
              <a:rPr dirty="0" err="1">
                <a:solidFill>
                  <a:srgbClr val="555555"/>
                </a:solidFill>
              </a:rPr>
              <a:t>incrustado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width y height: </a:t>
            </a:r>
            <a:r>
              <a:rPr dirty="0" err="1">
                <a:solidFill>
                  <a:srgbClr val="555555"/>
                </a:solidFill>
              </a:rPr>
              <a:t>tamaño</a:t>
            </a:r>
            <a:r>
              <a:rPr dirty="0">
                <a:solidFill>
                  <a:srgbClr val="555555"/>
                </a:solidFill>
              </a:rPr>
              <a:t>.</a:t>
            </a:r>
          </a:p>
          <a:p>
            <a:pPr algn="l"/>
            <a:r>
              <a:rPr dirty="0">
                <a:solidFill>
                  <a:srgbClr val="555555"/>
                </a:solidFill>
              </a:rPr>
              <a:t>- sandbox: </a:t>
            </a:r>
            <a:r>
              <a:rPr dirty="0" err="1">
                <a:solidFill>
                  <a:srgbClr val="555555"/>
                </a:solidFill>
              </a:rPr>
              <a:t>restricciones</a:t>
            </a:r>
            <a:r>
              <a:rPr dirty="0">
                <a:solidFill>
                  <a:srgbClr val="555555"/>
                </a:solidFill>
              </a:rPr>
              <a:t> de </a:t>
            </a:r>
            <a:r>
              <a:rPr dirty="0" err="1">
                <a:solidFill>
                  <a:srgbClr val="555555"/>
                </a:solidFill>
              </a:rPr>
              <a:t>seguridad</a:t>
            </a:r>
            <a:r>
              <a:rPr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FB8A5D5-96E2-9E30-88A7-619040DF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Docente: Alexandra Moltó Grau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1182</Words>
  <Application>Microsoft Office PowerPoint</Application>
  <PresentationFormat>Panorámica</PresentationFormat>
  <Paragraphs>212</Paragraphs>
  <Slides>18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Molto Grau</dc:creator>
  <cp:lastModifiedBy>Alexandra Molto Grau</cp:lastModifiedBy>
  <cp:revision>14</cp:revision>
  <dcterms:created xsi:type="dcterms:W3CDTF">2025-10-16T14:14:29Z</dcterms:created>
  <dcterms:modified xsi:type="dcterms:W3CDTF">2025-12-17T12:41:30Z</dcterms:modified>
</cp:coreProperties>
</file>